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9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ไม่มีสไตล์ ไม่มีเส้นตาราง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ไม่มีสไตล์, เส้นตาราง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281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ปรีชา มหาวัน" userId="c2b15ca84d27d925" providerId="LiveId" clId="{C7F722D7-39FB-4996-A1CD-FE072A2CFC20}"/>
    <pc:docChg chg="modSld">
      <pc:chgData name="ปรีชา มหาวัน" userId="c2b15ca84d27d925" providerId="LiveId" clId="{C7F722D7-39FB-4996-A1CD-FE072A2CFC20}" dt="2026-05-29T03:07:46.539" v="12" actId="20577"/>
      <pc:docMkLst>
        <pc:docMk/>
      </pc:docMkLst>
      <pc:sldChg chg="modSp mod">
        <pc:chgData name="ปรีชา มหาวัน" userId="c2b15ca84d27d925" providerId="LiveId" clId="{C7F722D7-39FB-4996-A1CD-FE072A2CFC20}" dt="2026-05-29T03:07:46.539" v="12" actId="20577"/>
        <pc:sldMkLst>
          <pc:docMk/>
          <pc:sldMk cId="564625854" sldId="259"/>
        </pc:sldMkLst>
        <pc:spChg chg="mod">
          <ac:chgData name="ปรีชา มหาวัน" userId="c2b15ca84d27d925" providerId="LiveId" clId="{C7F722D7-39FB-4996-A1CD-FE072A2CFC20}" dt="2026-05-29T03:07:46.539" v="12" actId="20577"/>
          <ac:spMkLst>
            <pc:docMk/>
            <pc:sldMk cId="564625854" sldId="259"/>
            <ac:spMk id="6" creationId="{AADF60A8-CB77-8E27-70AD-65285C1F73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57569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6668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5177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0973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427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63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1455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928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66078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6782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851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0DC1A-22BD-4B0E-9A56-4E388DA1B34D}" type="datetimeFigureOut">
              <a:rPr lang="th-TH" smtClean="0"/>
              <a:t>29/05/69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F2223-5110-41CF-A76B-E323BBE5B5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7132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7DDA6707-5651-1E13-BAA1-BFB1113324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84987" y="215768"/>
            <a:ext cx="502920" cy="5384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AADF60A8-CB77-8E27-70AD-65285C1F7345}"/>
              </a:ext>
            </a:extLst>
          </p:cNvPr>
          <p:cNvSpPr txBox="1"/>
          <p:nvPr/>
        </p:nvSpPr>
        <p:spPr>
          <a:xfrm>
            <a:off x="376181" y="773210"/>
            <a:ext cx="644951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6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แบบตรวจโครงการอาหารกลางวัน สำหรับผู้ควบคุมและคณะกรรมการตรวจประกอบอาหาร</a:t>
            </a:r>
          </a:p>
          <a:p>
            <a:pPr algn="ctr"/>
            <a:r>
              <a:rPr lang="th-TH" sz="16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ศูนย์การศึกษาพิเศษ ประจำจังหวัดปทุมธานี</a:t>
            </a:r>
          </a:p>
          <a:p>
            <a:pPr algn="ctr">
              <a:spcBef>
                <a:spcPts val="600"/>
              </a:spcBef>
            </a:pPr>
            <a:r>
              <a:rPr lang="th-TH" sz="1600" b="1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ประจำวัน.....ศุกร์.........ที่............เดือน...............พ.ศ.................</a:t>
            </a:r>
          </a:p>
          <a:p>
            <a:pPr algn="ctr">
              <a:spcBef>
                <a:spcPts val="600"/>
              </a:spcBef>
            </a:pPr>
            <a:r>
              <a:rPr lang="th-TH" sz="16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อาหารวันนี้คือ....ลาบหมู..+..แกงจืดผักกาดขาวหมูสับ..</a:t>
            </a:r>
            <a:r>
              <a:rPr lang="th-TH" sz="1600" b="1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..</a:t>
            </a:r>
            <a:r>
              <a:rPr lang="th-TH" sz="16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.ผลไม้/ขนมวันนี้คือ....เฉาก๊วย.....</a:t>
            </a:r>
            <a:endParaRPr lang="en-US" sz="1600" b="1" kern="1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1084C772-988C-C8E3-B536-22A3DA83A00F}"/>
              </a:ext>
            </a:extLst>
          </p:cNvPr>
          <p:cNvSpPr txBox="1"/>
          <p:nvPr/>
        </p:nvSpPr>
        <p:spPr>
          <a:xfrm>
            <a:off x="566478" y="2254973"/>
            <a:ext cx="624285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4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1.  เมนูตรงตามรายการอาหารประจำสัปดาห์ หรือ ตรงตาม</a:t>
            </a:r>
            <a:r>
              <a:rPr lang="af-ZA" sz="14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School lunch</a:t>
            </a:r>
          </a:p>
          <a:p>
            <a:pPr>
              <a:tabLst>
                <a:tab pos="357188" algn="l"/>
              </a:tabLst>
            </a:pPr>
            <a:r>
              <a:rPr lang="af-ZA" sz="1400" b="1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   </a:t>
            </a:r>
            <a:r>
              <a:rPr lang="af-ZA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1.1  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อาหาร                 ตรง</a:t>
            </a:r>
            <a:endParaRPr lang="af-ZA" sz="1400" kern="100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pPr>
              <a:tabLst>
                <a:tab pos="357188" algn="l"/>
              </a:tabLst>
            </a:pPr>
            <a:r>
              <a:rPr lang="af-ZA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   </a:t>
            </a:r>
            <a:r>
              <a:rPr lang="af-ZA" sz="1400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1.2  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ขนม/ผลไม้            ตรง                   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ไม่ตรง เพราะ...............................................................................................</a:t>
            </a:r>
          </a:p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th-TH" sz="14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2.  ความสะอาดของอาหารเมื่อปรุงสุก</a:t>
            </a:r>
            <a:endParaRPr lang="en-US" sz="1400" b="1" kern="1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1028" name="Picture 4" descr="Summer Fruit Split Line, Split Frame, Lemon, Big Summer PNG White  Transparent And Clipart Image For Free Download - Lovepik | 401949552">
            <a:extLst>
              <a:ext uri="{FF2B5EF4-FFF2-40B4-BE49-F238E27FC236}">
                <a16:creationId xmlns:a16="http://schemas.microsoft.com/office/drawing/2014/main" id="{7764240A-E016-9432-ECB8-8BA3B7DB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9446" b="25098"/>
          <a:stretch/>
        </p:blipFill>
        <p:spPr bwMode="auto">
          <a:xfrm>
            <a:off x="1781748" y="1935898"/>
            <a:ext cx="3797423" cy="27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แผนผังลำดับงาน: ตัวเชื่อมต่อ 8">
            <a:extLst>
              <a:ext uri="{FF2B5EF4-FFF2-40B4-BE49-F238E27FC236}">
                <a16:creationId xmlns:a16="http://schemas.microsoft.com/office/drawing/2014/main" id="{4EEB5CB9-CA08-290C-7528-1DDE90E1616E}"/>
              </a:ext>
            </a:extLst>
          </p:cNvPr>
          <p:cNvSpPr/>
          <p:nvPr/>
        </p:nvSpPr>
        <p:spPr>
          <a:xfrm>
            <a:off x="1728845" y="2573688"/>
            <a:ext cx="152589" cy="14865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                                                                                                               </a:t>
            </a:r>
          </a:p>
        </p:txBody>
      </p:sp>
      <p:sp>
        <p:nvSpPr>
          <p:cNvPr id="10" name="แผนผังลำดับงาน: ตัวเชื่อมต่อ 9">
            <a:extLst>
              <a:ext uri="{FF2B5EF4-FFF2-40B4-BE49-F238E27FC236}">
                <a16:creationId xmlns:a16="http://schemas.microsoft.com/office/drawing/2014/main" id="{34F4BF3C-28EA-3749-C7F0-1B86ED050C5E}"/>
              </a:ext>
            </a:extLst>
          </p:cNvPr>
          <p:cNvSpPr/>
          <p:nvPr/>
        </p:nvSpPr>
        <p:spPr>
          <a:xfrm>
            <a:off x="1728845" y="2819849"/>
            <a:ext cx="152589" cy="14865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แผนผังลำดับงาน: ตัวเชื่อมต่อ 10">
            <a:extLst>
              <a:ext uri="{FF2B5EF4-FFF2-40B4-BE49-F238E27FC236}">
                <a16:creationId xmlns:a16="http://schemas.microsoft.com/office/drawing/2014/main" id="{437677B0-D0FA-E8D9-CFC1-13D8BBB4A6E9}"/>
              </a:ext>
            </a:extLst>
          </p:cNvPr>
          <p:cNvSpPr/>
          <p:nvPr/>
        </p:nvSpPr>
        <p:spPr>
          <a:xfrm>
            <a:off x="2648275" y="2574936"/>
            <a:ext cx="152589" cy="14865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                                     </a:t>
            </a:r>
          </a:p>
        </p:txBody>
      </p:sp>
      <p:sp>
        <p:nvSpPr>
          <p:cNvPr id="12" name="แผนผังลำดับงาน: ตัวเชื่อมต่อ 11">
            <a:extLst>
              <a:ext uri="{FF2B5EF4-FFF2-40B4-BE49-F238E27FC236}">
                <a16:creationId xmlns:a16="http://schemas.microsoft.com/office/drawing/2014/main" id="{E62FF748-7B20-2015-BF45-A174FDC096E6}"/>
              </a:ext>
            </a:extLst>
          </p:cNvPr>
          <p:cNvSpPr/>
          <p:nvPr/>
        </p:nvSpPr>
        <p:spPr>
          <a:xfrm>
            <a:off x="2662092" y="2797535"/>
            <a:ext cx="152589" cy="14865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4158605C-F05E-4085-8635-1E18D6B27C9F}"/>
              </a:ext>
            </a:extLst>
          </p:cNvPr>
          <p:cNvSpPr txBox="1"/>
          <p:nvPr/>
        </p:nvSpPr>
        <p:spPr>
          <a:xfrm>
            <a:off x="2817270" y="2429596"/>
            <a:ext cx="3667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ไม่ตรง เพราะ...............................................................................................</a:t>
            </a:r>
            <a:endParaRPr lang="th-TH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แผนผังลำดับงาน: ตัวเชื่อมต่อ 21">
            <a:extLst>
              <a:ext uri="{FF2B5EF4-FFF2-40B4-BE49-F238E27FC236}">
                <a16:creationId xmlns:a16="http://schemas.microsoft.com/office/drawing/2014/main" id="{F069AA03-D6CA-E3C5-91F8-3F42C1CD6D4A}"/>
              </a:ext>
            </a:extLst>
          </p:cNvPr>
          <p:cNvSpPr/>
          <p:nvPr/>
        </p:nvSpPr>
        <p:spPr>
          <a:xfrm>
            <a:off x="2686551" y="3533842"/>
            <a:ext cx="152589" cy="14865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5" name="กล่องข้อความ 24">
            <a:extLst>
              <a:ext uri="{FF2B5EF4-FFF2-40B4-BE49-F238E27FC236}">
                <a16:creationId xmlns:a16="http://schemas.microsoft.com/office/drawing/2014/main" id="{4A6330A4-E2A1-401F-8F3D-6816E4A97D9A}"/>
              </a:ext>
            </a:extLst>
          </p:cNvPr>
          <p:cNvSpPr txBox="1"/>
          <p:nvPr/>
        </p:nvSpPr>
        <p:spPr>
          <a:xfrm>
            <a:off x="566478" y="3841007"/>
            <a:ext cx="3580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th-TH" sz="14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3.  </a:t>
            </a:r>
            <a:r>
              <a:rPr lang="th-TH" sz="1400" b="1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อาหารมีสีสันน่ารับประทาน</a:t>
            </a:r>
            <a:endParaRPr lang="en-US" sz="1400" b="1" kern="1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grpSp>
        <p:nvGrpSpPr>
          <p:cNvPr id="27" name="กลุ่ม 26">
            <a:extLst>
              <a:ext uri="{FF2B5EF4-FFF2-40B4-BE49-F238E27FC236}">
                <a16:creationId xmlns:a16="http://schemas.microsoft.com/office/drawing/2014/main" id="{2C375DB7-9A39-C07B-EC7A-4586D48F64B2}"/>
              </a:ext>
            </a:extLst>
          </p:cNvPr>
          <p:cNvGrpSpPr/>
          <p:nvPr/>
        </p:nvGrpSpPr>
        <p:grpSpPr>
          <a:xfrm>
            <a:off x="767659" y="4066282"/>
            <a:ext cx="5701788" cy="527144"/>
            <a:chOff x="737574" y="3714985"/>
            <a:chExt cx="5701788" cy="527144"/>
          </a:xfrm>
        </p:grpSpPr>
        <p:grpSp>
          <p:nvGrpSpPr>
            <p:cNvPr id="28" name="กลุ่ม 27">
              <a:extLst>
                <a:ext uri="{FF2B5EF4-FFF2-40B4-BE49-F238E27FC236}">
                  <a16:creationId xmlns:a16="http://schemas.microsoft.com/office/drawing/2014/main" id="{CC915457-F805-EF2C-3D73-09B4FCB8E701}"/>
                </a:ext>
              </a:extLst>
            </p:cNvPr>
            <p:cNvGrpSpPr/>
            <p:nvPr/>
          </p:nvGrpSpPr>
          <p:grpSpPr>
            <a:xfrm>
              <a:off x="737574" y="3714985"/>
              <a:ext cx="5701788" cy="527144"/>
              <a:chOff x="737574" y="3714985"/>
              <a:chExt cx="5701788" cy="527144"/>
            </a:xfrm>
          </p:grpSpPr>
          <p:sp>
            <p:nvSpPr>
              <p:cNvPr id="32" name="กล่องข้อความ 31">
                <a:extLst>
                  <a:ext uri="{FF2B5EF4-FFF2-40B4-BE49-F238E27FC236}">
                    <a16:creationId xmlns:a16="http://schemas.microsoft.com/office/drawing/2014/main" id="{DE274101-197C-58BD-D351-C2634B6797B5}"/>
                  </a:ext>
                </a:extLst>
              </p:cNvPr>
              <p:cNvSpPr txBox="1"/>
              <p:nvPr/>
            </p:nvSpPr>
            <p:spPr>
              <a:xfrm>
                <a:off x="737574" y="3718909"/>
                <a:ext cx="56084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af-ZA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3.1  </a:t>
                </a: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อาหาร                 ตรง</a:t>
                </a:r>
                <a:endParaRPr lang="af-ZA" sz="1400" kern="100" dirty="0">
                  <a:latin typeface="TH SarabunPSK" panose="020B0500040200020003" pitchFamily="34" charset="-34"/>
                  <a:ea typeface="Calibri" panose="020F0502020204030204" pitchFamily="34" charset="0"/>
                  <a:cs typeface="TH SarabunPSK" panose="020B0500040200020003" pitchFamily="34" charset="-34"/>
                </a:endParaRPr>
              </a:p>
              <a:p>
                <a:pPr>
                  <a:tabLst>
                    <a:tab pos="357188" algn="l"/>
                  </a:tabLst>
                </a:pPr>
                <a:r>
                  <a:rPr lang="af-ZA" sz="1400" kern="100" dirty="0">
                    <a:effectLst/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3.2  </a:t>
                </a: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ขนม/ผลไม้            ตรง                  </a:t>
                </a:r>
                <a:r>
                  <a:rPr lang="th-TH" sz="14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ไม่ตรง เพราะ..............................................................................................</a:t>
                </a:r>
              </a:p>
            </p:txBody>
          </p:sp>
          <p:sp>
            <p:nvSpPr>
              <p:cNvPr id="33" name="กล่องข้อความ 32">
                <a:extLst>
                  <a:ext uri="{FF2B5EF4-FFF2-40B4-BE49-F238E27FC236}">
                    <a16:creationId xmlns:a16="http://schemas.microsoft.com/office/drawing/2014/main" id="{AAADF0E2-AB4F-844B-6215-9140D8365D15}"/>
                  </a:ext>
                </a:extLst>
              </p:cNvPr>
              <p:cNvSpPr txBox="1"/>
              <p:nvPr/>
            </p:nvSpPr>
            <p:spPr>
              <a:xfrm>
                <a:off x="2772302" y="3714985"/>
                <a:ext cx="36670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1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 ไม่ตรง เพราะ...............................................................................</a:t>
                </a:r>
              </a:p>
            </p:txBody>
          </p:sp>
        </p:grpSp>
        <p:sp>
          <p:nvSpPr>
            <p:cNvPr id="29" name="แผนผังลำดับงาน: ตัวเชื่อมต่อ 28">
              <a:extLst>
                <a:ext uri="{FF2B5EF4-FFF2-40B4-BE49-F238E27FC236}">
                  <a16:creationId xmlns:a16="http://schemas.microsoft.com/office/drawing/2014/main" id="{249F446A-4E7F-859D-273D-CF4A8724EDA3}"/>
                </a:ext>
              </a:extLst>
            </p:cNvPr>
            <p:cNvSpPr/>
            <p:nvPr/>
          </p:nvSpPr>
          <p:spPr>
            <a:xfrm>
              <a:off x="1716373" y="3808256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16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                                          </a:t>
              </a:r>
              <a:r>
                <a:rPr lang="th-TH" sz="1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                                  </a:t>
              </a:r>
              <a:r>
                <a:rPr lang="th-TH" sz="16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</a:t>
              </a:r>
              <a:r>
                <a:rPr lang="th-TH" dirty="0"/>
                <a:t>                </a:t>
              </a:r>
            </a:p>
          </p:txBody>
        </p:sp>
        <p:sp>
          <p:nvSpPr>
            <p:cNvPr id="30" name="แผนผังลำดับงาน: ตัวเชื่อมต่อ 29">
              <a:extLst>
                <a:ext uri="{FF2B5EF4-FFF2-40B4-BE49-F238E27FC236}">
                  <a16:creationId xmlns:a16="http://schemas.microsoft.com/office/drawing/2014/main" id="{E2675A50-8E48-461A-88E6-DFD840AC483D}"/>
                </a:ext>
              </a:extLst>
            </p:cNvPr>
            <p:cNvSpPr/>
            <p:nvPr/>
          </p:nvSpPr>
          <p:spPr>
            <a:xfrm>
              <a:off x="1716372" y="4053169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1" name="แผนผังลำดับงาน: ตัวเชื่อมต่อ 30">
              <a:extLst>
                <a:ext uri="{FF2B5EF4-FFF2-40B4-BE49-F238E27FC236}">
                  <a16:creationId xmlns:a16="http://schemas.microsoft.com/office/drawing/2014/main" id="{589D5B0D-119D-0EC1-CA6D-C32FF1147389}"/>
                </a:ext>
              </a:extLst>
            </p:cNvPr>
            <p:cNvSpPr/>
            <p:nvPr/>
          </p:nvSpPr>
          <p:spPr>
            <a:xfrm>
              <a:off x="2650894" y="3808256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                         </a:t>
              </a:r>
            </a:p>
          </p:txBody>
        </p:sp>
      </p:grpSp>
      <p:sp>
        <p:nvSpPr>
          <p:cNvPr id="34" name="แผนผังลำดับงาน: ตัวเชื่อมต่อ 33">
            <a:extLst>
              <a:ext uri="{FF2B5EF4-FFF2-40B4-BE49-F238E27FC236}">
                <a16:creationId xmlns:a16="http://schemas.microsoft.com/office/drawing/2014/main" id="{F53FC45D-5E52-84E4-8741-0496DBF3CCE8}"/>
              </a:ext>
            </a:extLst>
          </p:cNvPr>
          <p:cNvSpPr/>
          <p:nvPr/>
        </p:nvSpPr>
        <p:spPr>
          <a:xfrm>
            <a:off x="2695862" y="4414626"/>
            <a:ext cx="152588" cy="139291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5" name="กล่องข้อความ 34">
            <a:extLst>
              <a:ext uri="{FF2B5EF4-FFF2-40B4-BE49-F238E27FC236}">
                <a16:creationId xmlns:a16="http://schemas.microsoft.com/office/drawing/2014/main" id="{52B5A77D-E205-9813-BE6C-FBBB0BBBEEDB}"/>
              </a:ext>
            </a:extLst>
          </p:cNvPr>
          <p:cNvSpPr txBox="1"/>
          <p:nvPr/>
        </p:nvSpPr>
        <p:spPr>
          <a:xfrm>
            <a:off x="602314" y="4620289"/>
            <a:ext cx="3580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th-TH" sz="1400" b="1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4</a:t>
            </a:r>
            <a:r>
              <a:rPr lang="th-TH" sz="14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. รสชาติของอาหาร</a:t>
            </a:r>
            <a:endParaRPr lang="en-US" sz="1400" b="1" kern="1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4" name="กล่องข้อความ 43">
            <a:extLst>
              <a:ext uri="{FF2B5EF4-FFF2-40B4-BE49-F238E27FC236}">
                <a16:creationId xmlns:a16="http://schemas.microsoft.com/office/drawing/2014/main" id="{8CA67E8E-7601-522B-91F3-57CEF4875C7B}"/>
              </a:ext>
            </a:extLst>
          </p:cNvPr>
          <p:cNvSpPr txBox="1"/>
          <p:nvPr/>
        </p:nvSpPr>
        <p:spPr>
          <a:xfrm>
            <a:off x="609513" y="5497106"/>
            <a:ext cx="3580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th-TH" sz="14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5. ปริมาณเพียงพอต่อนักเรียน</a:t>
            </a:r>
            <a:endParaRPr lang="en-US" sz="1400" b="1" kern="1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sp>
        <p:nvSpPr>
          <p:cNvPr id="56" name="กล่องข้อความ 55">
            <a:extLst>
              <a:ext uri="{FF2B5EF4-FFF2-40B4-BE49-F238E27FC236}">
                <a16:creationId xmlns:a16="http://schemas.microsoft.com/office/drawing/2014/main" id="{A8D4B657-976C-E936-B051-11AC9876AD80}"/>
              </a:ext>
            </a:extLst>
          </p:cNvPr>
          <p:cNvSpPr txBox="1"/>
          <p:nvPr/>
        </p:nvSpPr>
        <p:spPr>
          <a:xfrm>
            <a:off x="630993" y="7765147"/>
            <a:ext cx="579178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th-TH" sz="14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ข้อเสนอแนะ</a:t>
            </a:r>
            <a:r>
              <a:rPr lang="th-TH" sz="1600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sz="1600" kern="1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sp>
        <p:nvSpPr>
          <p:cNvPr id="57" name="กล่องข้อความ 56">
            <a:extLst>
              <a:ext uri="{FF2B5EF4-FFF2-40B4-BE49-F238E27FC236}">
                <a16:creationId xmlns:a16="http://schemas.microsoft.com/office/drawing/2014/main" id="{95A82D38-1B81-EB97-E00C-FCED04CF9B29}"/>
              </a:ext>
            </a:extLst>
          </p:cNvPr>
          <p:cNvSpPr txBox="1"/>
          <p:nvPr/>
        </p:nvSpPr>
        <p:spPr>
          <a:xfrm>
            <a:off x="616848" y="8565366"/>
            <a:ext cx="600341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ผู้บันทึก</a:t>
            </a:r>
          </a:p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ชื่อ</a:t>
            </a:r>
            <a:r>
              <a:rPr lang="en-US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-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สกล</a:t>
            </a:r>
            <a:r>
              <a:rPr lang="en-US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:………………………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(</a:t>
            </a:r>
            <a:r>
              <a:rPr lang="en-US" sz="1400" kern="100" dirty="0" err="1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Droptext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)</a:t>
            </a:r>
            <a:r>
              <a:rPr lang="en-US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…………………………………</a:t>
            </a:r>
            <a:endParaRPr lang="th-TH" sz="1400" kern="100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ชื่อ</a:t>
            </a:r>
            <a:r>
              <a:rPr lang="en-US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-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สกล</a:t>
            </a:r>
            <a:r>
              <a:rPr lang="en-US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:………………………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(</a:t>
            </a:r>
            <a:r>
              <a:rPr lang="en-US" sz="1400" kern="100" dirty="0" err="1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Droptext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)</a:t>
            </a:r>
            <a:r>
              <a:rPr lang="en-US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…………………………………</a:t>
            </a:r>
            <a:endParaRPr lang="th-TH" sz="1400" kern="100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grpSp>
        <p:nvGrpSpPr>
          <p:cNvPr id="58" name="กลุ่ม 57">
            <a:extLst>
              <a:ext uri="{FF2B5EF4-FFF2-40B4-BE49-F238E27FC236}">
                <a16:creationId xmlns:a16="http://schemas.microsoft.com/office/drawing/2014/main" id="{3DE33090-72FE-80A5-E2E4-4AEE2B69E72D}"/>
              </a:ext>
            </a:extLst>
          </p:cNvPr>
          <p:cNvGrpSpPr/>
          <p:nvPr/>
        </p:nvGrpSpPr>
        <p:grpSpPr>
          <a:xfrm>
            <a:off x="796716" y="6485422"/>
            <a:ext cx="5719400" cy="523220"/>
            <a:chOff x="811954" y="5604275"/>
            <a:chExt cx="5719400" cy="523220"/>
          </a:xfrm>
        </p:grpSpPr>
        <p:grpSp>
          <p:nvGrpSpPr>
            <p:cNvPr id="59" name="กลุ่ม 58">
              <a:extLst>
                <a:ext uri="{FF2B5EF4-FFF2-40B4-BE49-F238E27FC236}">
                  <a16:creationId xmlns:a16="http://schemas.microsoft.com/office/drawing/2014/main" id="{0DEA7037-2218-ECAC-AA4A-5BD23A0EFC83}"/>
                </a:ext>
              </a:extLst>
            </p:cNvPr>
            <p:cNvGrpSpPr/>
            <p:nvPr/>
          </p:nvGrpSpPr>
          <p:grpSpPr>
            <a:xfrm>
              <a:off x="811954" y="5604275"/>
              <a:ext cx="5719400" cy="523220"/>
              <a:chOff x="719962" y="3710351"/>
              <a:chExt cx="5719400" cy="523220"/>
            </a:xfrm>
          </p:grpSpPr>
          <p:grpSp>
            <p:nvGrpSpPr>
              <p:cNvPr id="61" name="กลุ่ม 60">
                <a:extLst>
                  <a:ext uri="{FF2B5EF4-FFF2-40B4-BE49-F238E27FC236}">
                    <a16:creationId xmlns:a16="http://schemas.microsoft.com/office/drawing/2014/main" id="{01FB7386-35E8-1826-C72A-D68C2263BF42}"/>
                  </a:ext>
                </a:extLst>
              </p:cNvPr>
              <p:cNvGrpSpPr/>
              <p:nvPr/>
            </p:nvGrpSpPr>
            <p:grpSpPr>
              <a:xfrm>
                <a:off x="719962" y="3710351"/>
                <a:ext cx="5719400" cy="523220"/>
                <a:chOff x="719962" y="3710351"/>
                <a:chExt cx="5719400" cy="523220"/>
              </a:xfrm>
            </p:grpSpPr>
            <p:sp>
              <p:nvSpPr>
                <p:cNvPr id="1025" name="กล่องข้อความ 1024">
                  <a:extLst>
                    <a:ext uri="{FF2B5EF4-FFF2-40B4-BE49-F238E27FC236}">
                      <a16:creationId xmlns:a16="http://schemas.microsoft.com/office/drawing/2014/main" id="{05EF04F5-2C55-9205-2B78-0318F404A730}"/>
                    </a:ext>
                  </a:extLst>
                </p:cNvPr>
                <p:cNvSpPr txBox="1"/>
                <p:nvPr/>
              </p:nvSpPr>
              <p:spPr>
                <a:xfrm>
                  <a:off x="719962" y="3710351"/>
                  <a:ext cx="560845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tabLst>
                      <a:tab pos="357188" algn="l"/>
                    </a:tabLst>
                  </a:pPr>
                  <a:r>
                    <a:rPr lang="af-ZA" sz="1400" kern="100" dirty="0">
                      <a:latin typeface="TH SarabunPSK" panose="020B0500040200020003" pitchFamily="34" charset="-34"/>
                      <a:ea typeface="Calibri" panose="020F0502020204030204" pitchFamily="34" charset="0"/>
                      <a:cs typeface="TH SarabunPSK" panose="020B0500040200020003" pitchFamily="34" charset="-34"/>
                    </a:rPr>
                    <a:t>6.1  </a:t>
                  </a:r>
                  <a:r>
                    <a:rPr lang="th-TH" sz="1400" kern="100" dirty="0">
                      <a:latin typeface="TH SarabunPSK" panose="020B0500040200020003" pitchFamily="34" charset="-34"/>
                      <a:ea typeface="Calibri" panose="020F0502020204030204" pitchFamily="34" charset="0"/>
                      <a:cs typeface="TH SarabunPSK" panose="020B0500040200020003" pitchFamily="34" charset="-34"/>
                    </a:rPr>
                    <a:t>อาหาร                 ตรง</a:t>
                  </a:r>
                  <a:endParaRPr lang="af-ZA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endParaRPr>
                </a:p>
                <a:p>
                  <a:pPr>
                    <a:tabLst>
                      <a:tab pos="357188" algn="l"/>
                    </a:tabLst>
                  </a:pPr>
                  <a:r>
                    <a:rPr lang="af-ZA" sz="1400" kern="100" dirty="0">
                      <a:effectLst/>
                      <a:latin typeface="TH SarabunPSK" panose="020B0500040200020003" pitchFamily="34" charset="-34"/>
                      <a:ea typeface="Calibri" panose="020F0502020204030204" pitchFamily="34" charset="0"/>
                      <a:cs typeface="TH SarabunPSK" panose="020B0500040200020003" pitchFamily="34" charset="-34"/>
                    </a:rPr>
                    <a:t>6.2  </a:t>
                  </a:r>
                  <a:r>
                    <a:rPr lang="th-TH" sz="1400" kern="100" dirty="0">
                      <a:latin typeface="TH SarabunPSK" panose="020B0500040200020003" pitchFamily="34" charset="-34"/>
                      <a:ea typeface="Calibri" panose="020F0502020204030204" pitchFamily="34" charset="0"/>
                      <a:cs typeface="TH SarabunPSK" panose="020B0500040200020003" pitchFamily="34" charset="-34"/>
                    </a:rPr>
                    <a:t>ขนม/ผลไม้            ตรง                   </a:t>
                  </a:r>
                  <a:r>
                    <a:rPr lang="th-TH" sz="1400" dirty="0"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ไม่ตรง เพราะ..............................................................................................</a:t>
                  </a:r>
                </a:p>
              </p:txBody>
            </p:sp>
            <p:sp>
              <p:nvSpPr>
                <p:cNvPr id="1027" name="กล่องข้อความ 1026">
                  <a:extLst>
                    <a:ext uri="{FF2B5EF4-FFF2-40B4-BE49-F238E27FC236}">
                      <a16:creationId xmlns:a16="http://schemas.microsoft.com/office/drawing/2014/main" id="{A643BC4A-FB0A-60C0-0903-DEA0DCD798A5}"/>
                    </a:ext>
                  </a:extLst>
                </p:cNvPr>
                <p:cNvSpPr txBox="1"/>
                <p:nvPr/>
              </p:nvSpPr>
              <p:spPr>
                <a:xfrm>
                  <a:off x="2772302" y="3714985"/>
                  <a:ext cx="366706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th-TH" sz="1600" dirty="0"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 ไม่ตรง เพราะ...............................................................................</a:t>
                  </a:r>
                </a:p>
              </p:txBody>
            </p:sp>
          </p:grpSp>
          <p:sp>
            <p:nvSpPr>
              <p:cNvPr id="62" name="แผนผังลำดับงาน: ตัวเชื่อมต่อ 61">
                <a:extLst>
                  <a:ext uri="{FF2B5EF4-FFF2-40B4-BE49-F238E27FC236}">
                    <a16:creationId xmlns:a16="http://schemas.microsoft.com/office/drawing/2014/main" id="{F2E982F2-7920-E957-2A3D-5B52C6A7E34E}"/>
                  </a:ext>
                </a:extLst>
              </p:cNvPr>
              <p:cNvSpPr/>
              <p:nvPr/>
            </p:nvSpPr>
            <p:spPr>
              <a:xfrm>
                <a:off x="1704995" y="3808256"/>
                <a:ext cx="152589" cy="148655"/>
              </a:xfrm>
              <a:prstGeom prst="flowChartConnector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th-TH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                                                           </a:t>
                </a:r>
                <a:r>
                  <a:rPr lang="th-TH" sz="14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                                                 </a:t>
                </a:r>
                <a:r>
                  <a:rPr lang="th-TH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            </a:t>
                </a:r>
              </a:p>
            </p:txBody>
          </p:sp>
          <p:sp>
            <p:nvSpPr>
              <p:cNvPr id="63" name="แผนผังลำดับงาน: ตัวเชื่อมต่อ 62">
                <a:extLst>
                  <a:ext uri="{FF2B5EF4-FFF2-40B4-BE49-F238E27FC236}">
                    <a16:creationId xmlns:a16="http://schemas.microsoft.com/office/drawing/2014/main" id="{6624C929-E261-E36C-F3B2-955C4E1A9083}"/>
                  </a:ext>
                </a:extLst>
              </p:cNvPr>
              <p:cNvSpPr/>
              <p:nvPr/>
            </p:nvSpPr>
            <p:spPr>
              <a:xfrm>
                <a:off x="1716712" y="4053539"/>
                <a:ext cx="152589" cy="148655"/>
              </a:xfrm>
              <a:prstGeom prst="flowChartConnector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24" name="แผนผังลำดับงาน: ตัวเชื่อมต่อ 1023">
                <a:extLst>
                  <a:ext uri="{FF2B5EF4-FFF2-40B4-BE49-F238E27FC236}">
                    <a16:creationId xmlns:a16="http://schemas.microsoft.com/office/drawing/2014/main" id="{8B9DB8E8-9546-EED8-020D-A3EEBC22A130}"/>
                  </a:ext>
                </a:extLst>
              </p:cNvPr>
              <p:cNvSpPr/>
              <p:nvPr/>
            </p:nvSpPr>
            <p:spPr>
              <a:xfrm>
                <a:off x="2650894" y="3808256"/>
                <a:ext cx="152589" cy="148655"/>
              </a:xfrm>
              <a:prstGeom prst="flowChartConnector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th-TH" sz="14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                                     </a:t>
                </a:r>
              </a:p>
            </p:txBody>
          </p:sp>
        </p:grpSp>
        <p:sp>
          <p:nvSpPr>
            <p:cNvPr id="60" name="แผนผังลำดับงาน: ตัวเชื่อมต่อ 59">
              <a:extLst>
                <a:ext uri="{FF2B5EF4-FFF2-40B4-BE49-F238E27FC236}">
                  <a16:creationId xmlns:a16="http://schemas.microsoft.com/office/drawing/2014/main" id="{3D21C223-153D-76C2-7DB7-7586F75BF256}"/>
                </a:ext>
              </a:extLst>
            </p:cNvPr>
            <p:cNvSpPr/>
            <p:nvPr/>
          </p:nvSpPr>
          <p:spPr>
            <a:xfrm>
              <a:off x="2740415" y="5930660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038" name="กล่องข้อความ 1037">
            <a:extLst>
              <a:ext uri="{FF2B5EF4-FFF2-40B4-BE49-F238E27FC236}">
                <a16:creationId xmlns:a16="http://schemas.microsoft.com/office/drawing/2014/main" id="{271F26DD-258D-5101-3EF6-94DA3E8E59EF}"/>
              </a:ext>
            </a:extLst>
          </p:cNvPr>
          <p:cNvSpPr txBox="1"/>
          <p:nvPr/>
        </p:nvSpPr>
        <p:spPr>
          <a:xfrm>
            <a:off x="602314" y="6236810"/>
            <a:ext cx="3580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th-TH" sz="14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6. คุณค่าตามหลักโภชนาการครบถ้วน</a:t>
            </a:r>
            <a:endParaRPr lang="en-US" sz="1400" b="1" kern="1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8FCCE059-EBF0-25D3-9199-09269A3C19FF}"/>
              </a:ext>
            </a:extLst>
          </p:cNvPr>
          <p:cNvGrpSpPr/>
          <p:nvPr/>
        </p:nvGrpSpPr>
        <p:grpSpPr>
          <a:xfrm>
            <a:off x="750046" y="3147726"/>
            <a:ext cx="5701788" cy="604088"/>
            <a:chOff x="737574" y="3714985"/>
            <a:chExt cx="5701788" cy="604088"/>
          </a:xfrm>
        </p:grpSpPr>
        <p:grpSp>
          <p:nvGrpSpPr>
            <p:cNvPr id="5" name="กลุ่ม 4">
              <a:extLst>
                <a:ext uri="{FF2B5EF4-FFF2-40B4-BE49-F238E27FC236}">
                  <a16:creationId xmlns:a16="http://schemas.microsoft.com/office/drawing/2014/main" id="{83D76298-42F3-8073-64C9-2FE4469AC833}"/>
                </a:ext>
              </a:extLst>
            </p:cNvPr>
            <p:cNvGrpSpPr/>
            <p:nvPr/>
          </p:nvGrpSpPr>
          <p:grpSpPr>
            <a:xfrm>
              <a:off x="737574" y="3714985"/>
              <a:ext cx="5701788" cy="604088"/>
              <a:chOff x="737574" y="3714985"/>
              <a:chExt cx="5701788" cy="604088"/>
            </a:xfrm>
          </p:grpSpPr>
          <p:sp>
            <p:nvSpPr>
              <p:cNvPr id="24" name="กล่องข้อความ 23">
                <a:extLst>
                  <a:ext uri="{FF2B5EF4-FFF2-40B4-BE49-F238E27FC236}">
                    <a16:creationId xmlns:a16="http://schemas.microsoft.com/office/drawing/2014/main" id="{3FD1353B-EE5A-CA79-83A5-74E1A65A1E97}"/>
                  </a:ext>
                </a:extLst>
              </p:cNvPr>
              <p:cNvSpPr txBox="1"/>
              <p:nvPr/>
            </p:nvSpPr>
            <p:spPr>
              <a:xfrm>
                <a:off x="737574" y="3718909"/>
                <a:ext cx="5608450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2</a:t>
                </a:r>
                <a:r>
                  <a:rPr lang="af-ZA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.1  </a:t>
                </a: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อาหาร                 ตรง</a:t>
                </a:r>
                <a:endParaRPr lang="af-ZA" sz="1400" kern="100" dirty="0">
                  <a:latin typeface="TH SarabunPSK" panose="020B0500040200020003" pitchFamily="34" charset="-34"/>
                  <a:ea typeface="Calibri" panose="020F0502020204030204" pitchFamily="34" charset="0"/>
                  <a:cs typeface="TH SarabunPSK" panose="020B0500040200020003" pitchFamily="34" charset="-34"/>
                </a:endParaRPr>
              </a:p>
              <a:p>
                <a:pPr>
                  <a:spcBef>
                    <a:spcPts val="600"/>
                  </a:spcBef>
                  <a:tabLst>
                    <a:tab pos="357188" algn="l"/>
                  </a:tabLst>
                </a:pP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2</a:t>
                </a:r>
                <a:r>
                  <a:rPr lang="af-ZA" sz="1400" kern="100" dirty="0">
                    <a:effectLst/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.2  </a:t>
                </a: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ขนม/ผลไม้            ตรง                  </a:t>
                </a:r>
                <a:r>
                  <a:rPr lang="th-TH" sz="14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ไม่ตรง เพราะ..............................................................................................</a:t>
                </a:r>
              </a:p>
            </p:txBody>
          </p:sp>
          <p:sp>
            <p:nvSpPr>
              <p:cNvPr id="26" name="กล่องข้อความ 25">
                <a:extLst>
                  <a:ext uri="{FF2B5EF4-FFF2-40B4-BE49-F238E27FC236}">
                    <a16:creationId xmlns:a16="http://schemas.microsoft.com/office/drawing/2014/main" id="{30FBB9BB-ACA3-9A0A-F5A5-971338F3BC1D}"/>
                  </a:ext>
                </a:extLst>
              </p:cNvPr>
              <p:cNvSpPr txBox="1"/>
              <p:nvPr/>
            </p:nvSpPr>
            <p:spPr>
              <a:xfrm>
                <a:off x="2772302" y="3714985"/>
                <a:ext cx="36670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1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 ไม่ตรง เพราะ...............................................................................</a:t>
                </a:r>
              </a:p>
            </p:txBody>
          </p:sp>
        </p:grpSp>
        <p:sp>
          <p:nvSpPr>
            <p:cNvPr id="8" name="แผนผังลำดับงาน: ตัวเชื่อมต่อ 7">
              <a:extLst>
                <a:ext uri="{FF2B5EF4-FFF2-40B4-BE49-F238E27FC236}">
                  <a16:creationId xmlns:a16="http://schemas.microsoft.com/office/drawing/2014/main" id="{81C1686C-7B89-EF39-BE5C-F6CB8440AF6E}"/>
                </a:ext>
              </a:extLst>
            </p:cNvPr>
            <p:cNvSpPr/>
            <p:nvPr/>
          </p:nvSpPr>
          <p:spPr>
            <a:xfrm>
              <a:off x="1716373" y="3808256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16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                                        </a:t>
              </a:r>
              <a:r>
                <a:rPr lang="th-TH" sz="1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                                  </a:t>
              </a:r>
              <a:r>
                <a:rPr lang="th-TH" sz="16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</a:t>
              </a:r>
              <a:r>
                <a:rPr lang="th-TH" dirty="0"/>
                <a:t>                </a:t>
              </a:r>
            </a:p>
          </p:txBody>
        </p:sp>
        <p:sp>
          <p:nvSpPr>
            <p:cNvPr id="13" name="แผนผังลำดับงาน: ตัวเชื่อมต่อ 12">
              <a:extLst>
                <a:ext uri="{FF2B5EF4-FFF2-40B4-BE49-F238E27FC236}">
                  <a16:creationId xmlns:a16="http://schemas.microsoft.com/office/drawing/2014/main" id="{484A7408-E9E8-8C0D-D6C2-CBF23F3C0E73}"/>
                </a:ext>
              </a:extLst>
            </p:cNvPr>
            <p:cNvSpPr/>
            <p:nvPr/>
          </p:nvSpPr>
          <p:spPr>
            <a:xfrm>
              <a:off x="1716372" y="4053169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แผนผังลำดับงาน: ตัวเชื่อมต่อ 14">
              <a:extLst>
                <a:ext uri="{FF2B5EF4-FFF2-40B4-BE49-F238E27FC236}">
                  <a16:creationId xmlns:a16="http://schemas.microsoft.com/office/drawing/2014/main" id="{3FE25D70-3276-67D6-7DD9-0E134D453D85}"/>
                </a:ext>
              </a:extLst>
            </p:cNvPr>
            <p:cNvSpPr/>
            <p:nvPr/>
          </p:nvSpPr>
          <p:spPr>
            <a:xfrm>
              <a:off x="2649619" y="3800132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                     </a:t>
              </a:r>
            </a:p>
          </p:txBody>
        </p:sp>
      </p:grpSp>
      <p:grpSp>
        <p:nvGrpSpPr>
          <p:cNvPr id="55" name="กลุ่ม 54">
            <a:extLst>
              <a:ext uri="{FF2B5EF4-FFF2-40B4-BE49-F238E27FC236}">
                <a16:creationId xmlns:a16="http://schemas.microsoft.com/office/drawing/2014/main" id="{D643F171-5DA9-A8F7-6387-C606A1720AE1}"/>
              </a:ext>
            </a:extLst>
          </p:cNvPr>
          <p:cNvGrpSpPr/>
          <p:nvPr/>
        </p:nvGrpSpPr>
        <p:grpSpPr>
          <a:xfrm>
            <a:off x="814328" y="4925583"/>
            <a:ext cx="5701788" cy="527144"/>
            <a:chOff x="737574" y="3714985"/>
            <a:chExt cx="5701788" cy="527144"/>
          </a:xfrm>
        </p:grpSpPr>
        <p:grpSp>
          <p:nvGrpSpPr>
            <p:cNvPr id="1026" name="กลุ่ม 1025">
              <a:extLst>
                <a:ext uri="{FF2B5EF4-FFF2-40B4-BE49-F238E27FC236}">
                  <a16:creationId xmlns:a16="http://schemas.microsoft.com/office/drawing/2014/main" id="{B2B563A9-224D-51FE-D8E6-E902BC981D78}"/>
                </a:ext>
              </a:extLst>
            </p:cNvPr>
            <p:cNvGrpSpPr/>
            <p:nvPr/>
          </p:nvGrpSpPr>
          <p:grpSpPr>
            <a:xfrm>
              <a:off x="737574" y="3714985"/>
              <a:ext cx="5701788" cy="527144"/>
              <a:chOff x="737574" y="3714985"/>
              <a:chExt cx="5701788" cy="527144"/>
            </a:xfrm>
          </p:grpSpPr>
          <p:sp>
            <p:nvSpPr>
              <p:cNvPr id="1032" name="กล่องข้อความ 1031">
                <a:extLst>
                  <a:ext uri="{FF2B5EF4-FFF2-40B4-BE49-F238E27FC236}">
                    <a16:creationId xmlns:a16="http://schemas.microsoft.com/office/drawing/2014/main" id="{44DF814E-8F8F-3881-EB93-6193A02FBD30}"/>
                  </a:ext>
                </a:extLst>
              </p:cNvPr>
              <p:cNvSpPr txBox="1"/>
              <p:nvPr/>
            </p:nvSpPr>
            <p:spPr>
              <a:xfrm>
                <a:off x="737574" y="3718909"/>
                <a:ext cx="56084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4</a:t>
                </a:r>
                <a:r>
                  <a:rPr lang="af-ZA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.1  </a:t>
                </a: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อาหาร                 ตรง</a:t>
                </a:r>
                <a:endParaRPr lang="af-ZA" sz="1400" kern="100" dirty="0">
                  <a:latin typeface="TH SarabunPSK" panose="020B0500040200020003" pitchFamily="34" charset="-34"/>
                  <a:ea typeface="Calibri" panose="020F0502020204030204" pitchFamily="34" charset="0"/>
                  <a:cs typeface="TH SarabunPSK" panose="020B0500040200020003" pitchFamily="34" charset="-34"/>
                </a:endParaRPr>
              </a:p>
              <a:p>
                <a:pPr>
                  <a:tabLst>
                    <a:tab pos="357188" algn="l"/>
                  </a:tabLst>
                </a:pP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4</a:t>
                </a:r>
                <a:r>
                  <a:rPr lang="af-ZA" sz="1400" kern="100" dirty="0">
                    <a:effectLst/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.2  </a:t>
                </a: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ขนม/ผลไม้            ตรง                  </a:t>
                </a:r>
                <a:r>
                  <a:rPr lang="th-TH" sz="14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ไม่ตรง เพราะ..............................................................................................</a:t>
                </a:r>
              </a:p>
            </p:txBody>
          </p:sp>
          <p:sp>
            <p:nvSpPr>
              <p:cNvPr id="1033" name="กล่องข้อความ 1032">
                <a:extLst>
                  <a:ext uri="{FF2B5EF4-FFF2-40B4-BE49-F238E27FC236}">
                    <a16:creationId xmlns:a16="http://schemas.microsoft.com/office/drawing/2014/main" id="{549C2663-2398-FB6E-A64F-1CAB8723B10C}"/>
                  </a:ext>
                </a:extLst>
              </p:cNvPr>
              <p:cNvSpPr txBox="1"/>
              <p:nvPr/>
            </p:nvSpPr>
            <p:spPr>
              <a:xfrm>
                <a:off x="2772302" y="3714985"/>
                <a:ext cx="36670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1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 ไม่ตรง เพราะ...............................................................................</a:t>
                </a:r>
              </a:p>
            </p:txBody>
          </p:sp>
        </p:grpSp>
        <p:sp>
          <p:nvSpPr>
            <p:cNvPr id="1029" name="แผนผังลำดับงาน: ตัวเชื่อมต่อ 1028">
              <a:extLst>
                <a:ext uri="{FF2B5EF4-FFF2-40B4-BE49-F238E27FC236}">
                  <a16:creationId xmlns:a16="http://schemas.microsoft.com/office/drawing/2014/main" id="{CD0B7945-F998-2D3A-2E83-7587016CF6EE}"/>
                </a:ext>
              </a:extLst>
            </p:cNvPr>
            <p:cNvSpPr/>
            <p:nvPr/>
          </p:nvSpPr>
          <p:spPr>
            <a:xfrm>
              <a:off x="1716373" y="3808256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</a:pPr>
              <a:r>
                <a:rPr lang="th-TH" sz="16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                                          </a:t>
              </a:r>
              <a:r>
                <a:rPr lang="th-TH" sz="1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                                  </a:t>
              </a:r>
              <a:r>
                <a:rPr lang="th-TH" sz="16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</a:t>
              </a:r>
              <a:r>
                <a:rPr lang="th-TH" dirty="0"/>
                <a:t>                </a:t>
              </a:r>
            </a:p>
          </p:txBody>
        </p:sp>
        <p:sp>
          <p:nvSpPr>
            <p:cNvPr id="1030" name="แผนผังลำดับงาน: ตัวเชื่อมต่อ 1029">
              <a:extLst>
                <a:ext uri="{FF2B5EF4-FFF2-40B4-BE49-F238E27FC236}">
                  <a16:creationId xmlns:a16="http://schemas.microsoft.com/office/drawing/2014/main" id="{3D629AB0-060F-853B-5ED0-46ED29130DC5}"/>
                </a:ext>
              </a:extLst>
            </p:cNvPr>
            <p:cNvSpPr/>
            <p:nvPr/>
          </p:nvSpPr>
          <p:spPr>
            <a:xfrm>
              <a:off x="1716372" y="4053169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31" name="แผนผังลำดับงาน: ตัวเชื่อมต่อ 1030">
              <a:extLst>
                <a:ext uri="{FF2B5EF4-FFF2-40B4-BE49-F238E27FC236}">
                  <a16:creationId xmlns:a16="http://schemas.microsoft.com/office/drawing/2014/main" id="{B1ECDDDD-DF08-7D2B-777B-2DEA5C1FCBC4}"/>
                </a:ext>
              </a:extLst>
            </p:cNvPr>
            <p:cNvSpPr/>
            <p:nvPr/>
          </p:nvSpPr>
          <p:spPr>
            <a:xfrm>
              <a:off x="2650894" y="3808256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                         </a:t>
              </a:r>
            </a:p>
          </p:txBody>
        </p:sp>
      </p:grpSp>
      <p:sp>
        <p:nvSpPr>
          <p:cNvPr id="1035" name="แผนผังลำดับงาน: ตัวเชื่อมต่อ 1034">
            <a:extLst>
              <a:ext uri="{FF2B5EF4-FFF2-40B4-BE49-F238E27FC236}">
                <a16:creationId xmlns:a16="http://schemas.microsoft.com/office/drawing/2014/main" id="{8765A7BD-6876-FDAE-D25D-2F30945031B5}"/>
              </a:ext>
            </a:extLst>
          </p:cNvPr>
          <p:cNvSpPr/>
          <p:nvPr/>
        </p:nvSpPr>
        <p:spPr>
          <a:xfrm>
            <a:off x="2733036" y="5268061"/>
            <a:ext cx="152588" cy="139291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37" name="กล่องข้อความ 1036">
            <a:extLst>
              <a:ext uri="{FF2B5EF4-FFF2-40B4-BE49-F238E27FC236}">
                <a16:creationId xmlns:a16="http://schemas.microsoft.com/office/drawing/2014/main" id="{B0C3C9B5-6453-AF17-D53D-064EB43B7C00}"/>
              </a:ext>
            </a:extLst>
          </p:cNvPr>
          <p:cNvSpPr txBox="1"/>
          <p:nvPr/>
        </p:nvSpPr>
        <p:spPr>
          <a:xfrm>
            <a:off x="814328" y="5703384"/>
            <a:ext cx="5608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57188" algn="l"/>
              </a:tabLst>
            </a:pP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5</a:t>
            </a:r>
            <a:r>
              <a:rPr lang="af-ZA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.1  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อาหาร                 ตรง</a:t>
            </a:r>
            <a:endParaRPr lang="af-ZA" sz="1400" kern="100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pPr>
              <a:tabLst>
                <a:tab pos="357188" algn="l"/>
              </a:tabLst>
            </a:pP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5</a:t>
            </a:r>
            <a:r>
              <a:rPr lang="af-ZA" sz="1400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.2  </a:t>
            </a:r>
            <a:r>
              <a:rPr lang="th-TH" sz="1400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ขนม/ผลไม้            ตรง                  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ไม่ตรง เพราะ..............................................................................................</a:t>
            </a:r>
          </a:p>
        </p:txBody>
      </p:sp>
      <p:sp>
        <p:nvSpPr>
          <p:cNvPr id="1039" name="แผนผังลำดับงาน: ตัวเชื่อมต่อ 1038">
            <a:extLst>
              <a:ext uri="{FF2B5EF4-FFF2-40B4-BE49-F238E27FC236}">
                <a16:creationId xmlns:a16="http://schemas.microsoft.com/office/drawing/2014/main" id="{86EB9A8B-15DE-7D5F-F191-CF8BAA3826AE}"/>
              </a:ext>
            </a:extLst>
          </p:cNvPr>
          <p:cNvSpPr/>
          <p:nvPr/>
        </p:nvSpPr>
        <p:spPr>
          <a:xfrm>
            <a:off x="1805139" y="5840249"/>
            <a:ext cx="152589" cy="14865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                              </a:t>
            </a:r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                                  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</a:t>
            </a:r>
            <a:r>
              <a:rPr lang="th-TH" dirty="0"/>
              <a:t>                </a:t>
            </a:r>
          </a:p>
        </p:txBody>
      </p:sp>
      <p:sp>
        <p:nvSpPr>
          <p:cNvPr id="1040" name="แผนผังลำดับงาน: ตัวเชื่อมต่อ 1039">
            <a:extLst>
              <a:ext uri="{FF2B5EF4-FFF2-40B4-BE49-F238E27FC236}">
                <a16:creationId xmlns:a16="http://schemas.microsoft.com/office/drawing/2014/main" id="{CF1F4FA5-346D-A91C-2468-1B30995A43F5}"/>
              </a:ext>
            </a:extLst>
          </p:cNvPr>
          <p:cNvSpPr/>
          <p:nvPr/>
        </p:nvSpPr>
        <p:spPr>
          <a:xfrm>
            <a:off x="1805139" y="6068395"/>
            <a:ext cx="152589" cy="14865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41" name="กล่องข้อความ 1040">
            <a:extLst>
              <a:ext uri="{FF2B5EF4-FFF2-40B4-BE49-F238E27FC236}">
                <a16:creationId xmlns:a16="http://schemas.microsoft.com/office/drawing/2014/main" id="{A0CA8E86-1E26-20FD-A507-FC7DE0A4491C}"/>
              </a:ext>
            </a:extLst>
          </p:cNvPr>
          <p:cNvSpPr txBox="1"/>
          <p:nvPr/>
        </p:nvSpPr>
        <p:spPr>
          <a:xfrm>
            <a:off x="2877766" y="5723208"/>
            <a:ext cx="3667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ไม่ตรง เพราะ...............................................................................................</a:t>
            </a:r>
            <a:endParaRPr lang="th-TH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42" name="แผนผังลำดับงาน: ตัวเชื่อมต่อ 1041">
            <a:extLst>
              <a:ext uri="{FF2B5EF4-FFF2-40B4-BE49-F238E27FC236}">
                <a16:creationId xmlns:a16="http://schemas.microsoft.com/office/drawing/2014/main" id="{C94E2BA2-96A1-5CE5-39E6-726A365EED8F}"/>
              </a:ext>
            </a:extLst>
          </p:cNvPr>
          <p:cNvSpPr/>
          <p:nvPr/>
        </p:nvSpPr>
        <p:spPr>
          <a:xfrm>
            <a:off x="2735537" y="5807301"/>
            <a:ext cx="152589" cy="14865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                          </a:t>
            </a:r>
          </a:p>
        </p:txBody>
      </p:sp>
      <p:sp>
        <p:nvSpPr>
          <p:cNvPr id="1044" name="แผนผังลำดับงาน: ตัวเชื่อมต่อ 1043">
            <a:extLst>
              <a:ext uri="{FF2B5EF4-FFF2-40B4-BE49-F238E27FC236}">
                <a16:creationId xmlns:a16="http://schemas.microsoft.com/office/drawing/2014/main" id="{CB2CF84E-19A2-EF13-12F4-94D4D2C07292}"/>
              </a:ext>
            </a:extLst>
          </p:cNvPr>
          <p:cNvSpPr/>
          <p:nvPr/>
        </p:nvSpPr>
        <p:spPr>
          <a:xfrm>
            <a:off x="2735537" y="6021325"/>
            <a:ext cx="152589" cy="14865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                    </a:t>
            </a:r>
            <a:r>
              <a:rPr lang="th-TH" sz="1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ๆฤ</a:t>
            </a:r>
            <a:r>
              <a:rPr lang="th-TH" sz="1400">
                <a:latin typeface="TH SarabunPSK" panose="020B0500040200020003" pitchFamily="34" charset="-34"/>
                <a:cs typeface="TH SarabunPSK" panose="020B0500040200020003" pitchFamily="34" charset="-34"/>
              </a:rPr>
              <a:t>”      </a:t>
            </a:r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กล่องข้อความ 1037">
            <a:extLst>
              <a:ext uri="{FF2B5EF4-FFF2-40B4-BE49-F238E27FC236}">
                <a16:creationId xmlns:a16="http://schemas.microsoft.com/office/drawing/2014/main" id="{87C1864A-B578-2FC4-036A-F55B7BCB69DA}"/>
              </a:ext>
            </a:extLst>
          </p:cNvPr>
          <p:cNvSpPr txBox="1"/>
          <p:nvPr/>
        </p:nvSpPr>
        <p:spPr>
          <a:xfrm>
            <a:off x="566478" y="7047898"/>
            <a:ext cx="3580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tabLst>
                <a:tab pos="357188" algn="l"/>
              </a:tabLst>
            </a:pPr>
            <a:r>
              <a:rPr lang="en-US" sz="1400" b="1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7</a:t>
            </a:r>
            <a:r>
              <a:rPr lang="th-TH" sz="1400" b="1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. </a:t>
            </a:r>
            <a:r>
              <a:rPr lang="th-TH" sz="1400" b="1" kern="100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ความสะอาดของสถานที่</a:t>
            </a:r>
            <a:endParaRPr lang="en-US" sz="1400" b="1" kern="1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grpSp>
        <p:nvGrpSpPr>
          <p:cNvPr id="17" name="กลุ่ม 58">
            <a:extLst>
              <a:ext uri="{FF2B5EF4-FFF2-40B4-BE49-F238E27FC236}">
                <a16:creationId xmlns:a16="http://schemas.microsoft.com/office/drawing/2014/main" id="{8D513FC7-E608-B996-89D5-6116A67293C4}"/>
              </a:ext>
            </a:extLst>
          </p:cNvPr>
          <p:cNvGrpSpPr/>
          <p:nvPr/>
        </p:nvGrpSpPr>
        <p:grpSpPr>
          <a:xfrm>
            <a:off x="908480" y="7297648"/>
            <a:ext cx="5608450" cy="343853"/>
            <a:chOff x="719962" y="3710351"/>
            <a:chExt cx="5608450" cy="343853"/>
          </a:xfrm>
        </p:grpSpPr>
        <p:grpSp>
          <p:nvGrpSpPr>
            <p:cNvPr id="19" name="กลุ่ม 60">
              <a:extLst>
                <a:ext uri="{FF2B5EF4-FFF2-40B4-BE49-F238E27FC236}">
                  <a16:creationId xmlns:a16="http://schemas.microsoft.com/office/drawing/2014/main" id="{4A95D279-6A6B-BF52-56C6-1D0220D4814E}"/>
                </a:ext>
              </a:extLst>
            </p:cNvPr>
            <p:cNvGrpSpPr/>
            <p:nvPr/>
          </p:nvGrpSpPr>
          <p:grpSpPr>
            <a:xfrm>
              <a:off x="719962" y="3710351"/>
              <a:ext cx="5608450" cy="343853"/>
              <a:chOff x="719962" y="3710351"/>
              <a:chExt cx="5608450" cy="343853"/>
            </a:xfrm>
          </p:grpSpPr>
          <p:sp>
            <p:nvSpPr>
              <p:cNvPr id="36" name="กล่องข้อความ 1024">
                <a:extLst>
                  <a:ext uri="{FF2B5EF4-FFF2-40B4-BE49-F238E27FC236}">
                    <a16:creationId xmlns:a16="http://schemas.microsoft.com/office/drawing/2014/main" id="{9EC00A76-0087-7F9C-2B65-6FA0819C6B31}"/>
                  </a:ext>
                </a:extLst>
              </p:cNvPr>
              <p:cNvSpPr txBox="1"/>
              <p:nvPr/>
            </p:nvSpPr>
            <p:spPr>
              <a:xfrm>
                <a:off x="719962" y="3710351"/>
                <a:ext cx="56084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th-TH" sz="1400" kern="100" dirty="0">
                    <a:latin typeface="TH SarabunPSK" panose="020B0500040200020003" pitchFamily="34" charset="-34"/>
                    <a:ea typeface="Calibri" panose="020F0502020204030204" pitchFamily="34" charset="0"/>
                    <a:cs typeface="TH SarabunPSK" panose="020B0500040200020003" pitchFamily="34" charset="-34"/>
                  </a:rPr>
                  <a:t>          สะอาด</a:t>
                </a:r>
                <a:endParaRPr lang="af-ZA" sz="1400" kern="100" dirty="0">
                  <a:latin typeface="TH SarabunPSK" panose="020B0500040200020003" pitchFamily="34" charset="-34"/>
                  <a:ea typeface="Calibri" panose="020F0502020204030204" pitchFamily="34" charset="0"/>
                  <a:cs typeface="TH SarabunPSK" panose="020B0500040200020003" pitchFamily="34" charset="-34"/>
                </a:endParaRPr>
              </a:p>
            </p:txBody>
          </p:sp>
          <p:sp>
            <p:nvSpPr>
              <p:cNvPr id="37" name="กล่องข้อความ 1026">
                <a:extLst>
                  <a:ext uri="{FF2B5EF4-FFF2-40B4-BE49-F238E27FC236}">
                    <a16:creationId xmlns:a16="http://schemas.microsoft.com/office/drawing/2014/main" id="{4190666B-8C15-ECD4-D598-A601235DBDB2}"/>
                  </a:ext>
                </a:extLst>
              </p:cNvPr>
              <p:cNvSpPr txBox="1"/>
              <p:nvPr/>
            </p:nvSpPr>
            <p:spPr>
              <a:xfrm>
                <a:off x="2017940" y="3715650"/>
                <a:ext cx="36670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1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 ไม่สะอาด เพราะ............................................................................</a:t>
                </a:r>
              </a:p>
            </p:txBody>
          </p:sp>
        </p:grpSp>
        <p:sp>
          <p:nvSpPr>
            <p:cNvPr id="20" name="แผนผังลำดับงาน: ตัวเชื่อมต่อ 61">
              <a:extLst>
                <a:ext uri="{FF2B5EF4-FFF2-40B4-BE49-F238E27FC236}">
                  <a16:creationId xmlns:a16="http://schemas.microsoft.com/office/drawing/2014/main" id="{35A2C29A-4050-41D9-EA94-A5D2B0EA43ED}"/>
                </a:ext>
              </a:extLst>
            </p:cNvPr>
            <p:cNvSpPr/>
            <p:nvPr/>
          </p:nvSpPr>
          <p:spPr>
            <a:xfrm>
              <a:off x="980790" y="3789911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3" name="แผนผังลำดับงาน: ตัวเชื่อมต่อ 1023">
              <a:extLst>
                <a:ext uri="{FF2B5EF4-FFF2-40B4-BE49-F238E27FC236}">
                  <a16:creationId xmlns:a16="http://schemas.microsoft.com/office/drawing/2014/main" id="{9A450513-E482-7ABB-A2D5-07010CAD3AC3}"/>
                </a:ext>
              </a:extLst>
            </p:cNvPr>
            <p:cNvSpPr/>
            <p:nvPr/>
          </p:nvSpPr>
          <p:spPr>
            <a:xfrm>
              <a:off x="1865351" y="3789910"/>
              <a:ext cx="152589" cy="148655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4625854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76C71C9B0F487442B47949DD79815F8F" ma:contentTypeVersion="4" ma:contentTypeDescription="สร้างเอกสารใหม่" ma:contentTypeScope="" ma:versionID="5dd632e589dc95b2d1511d3d0634095b">
  <xsd:schema xmlns:xsd="http://www.w3.org/2001/XMLSchema" xmlns:xs="http://www.w3.org/2001/XMLSchema" xmlns:p="http://schemas.microsoft.com/office/2006/metadata/properties" xmlns:ns3="02f268a0-a4b6-4523-83f5-06c4a36015e2" targetNamespace="http://schemas.microsoft.com/office/2006/metadata/properties" ma:root="true" ma:fieldsID="e00b9fc42b8d693809445e83098446f0" ns3:_="">
    <xsd:import namespace="02f268a0-a4b6-4523-83f5-06c4a36015e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f268a0-a4b6-4523-83f5-06c4a3601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E92570-2595-45B0-A306-E67A022FBB6A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02f268a0-a4b6-4523-83f5-06c4a36015e2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DD1329E-724F-43ED-BAA2-F3988239A5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0F42ED-1707-4146-90D0-077B626B67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f268a0-a4b6-4523-83f5-06c4a3601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1351</TotalTime>
  <Words>291</Words>
  <Application>Microsoft Office PowerPoint</Application>
  <PresentationFormat>A4 Paper (210x297 mm)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TH SarabunPSK</vt:lpstr>
      <vt:lpstr>ธีมของ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วรทิพย์ ปลื้มสกุลไทย</dc:creator>
  <cp:lastModifiedBy>ปรีชา มหาวัน</cp:lastModifiedBy>
  <cp:revision>15</cp:revision>
  <cp:lastPrinted>2024-08-26T03:03:15Z</cp:lastPrinted>
  <dcterms:created xsi:type="dcterms:W3CDTF">2024-08-13T15:21:21Z</dcterms:created>
  <dcterms:modified xsi:type="dcterms:W3CDTF">2026-05-29T03:07:53Z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0x01010076C71C9B0F487442B47949DD79815F8F</vt:lpwstr>
  </property>
</Properties>
</file>